
<file path=[Content_Types].xml><?xml version="1.0" encoding="utf-8"?>
<Types xmlns="http://schemas.openxmlformats.org/package/2006/content-types">
  <Default Extension="fna&amp;_nc_gid=O09uWPqhR1Sy9FjmVzMTHg&amp;_nc_ss=7b289&amp;oh=00_AQI5InnXS3HnNW3GBluSusnBW7IMo-oJA4k8GJ0F_nwLsQ&amp;oe=6AB0ADFE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44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 en 30 segundos: Bucaramanga, Life2Play, MSU, docente. Luego anuncia la promesa de la charla: tendencias + cómo entrar.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dejas preguntas al final, el acto 2 baja a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dato fresco por tarjeta es suficiente. Reemplaza el corchete con la cifra del reporte de Newzoo de este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hacia el acto 3. Una frase: lo que se usa para explotar jugadores es exactamente lo que yo uso para diseñar juegos que educan.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la lista. Señala los roles en negrita: los "no obvios" (tools, tech artist, QA, datos) tienen menos competencia y más vacantes. Cierra con: elige uno o dos y especialízate.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Historia: cómo nació Life2Play y cómo la mascota, un experimento, terminó siendo el proyecto que me abrió la maestría. Remata: lo que construyes te abre puertas que no sabías que existían.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reclutador ve cien portafolios bonitos. Ve muy pocos donde alguien explica por qué tomó cada decisión. Eso es lo que distingue a un profesional de un aficionado.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Reemplaza [estudios] con los nombres que quieras mencionar (Globant y otros). Si tienes la versión vieja del portafolio, el antes/después es oro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Léanse Koster y Level Up! primero, y luego Fullerton y Schell. Menciona que tu mentor en la maestría fue Jeremy Gibson Bond, autor del texto más usado en universidades.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que estas consultoras publican resúmenes gratuitos; el reporte completo se paga pero el gratuito basta para una entrevista.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la historia como victoria. La visa, una sola frase al final: "no cerró por un tema de visa, pero llegué hasta ahí". Lo que enseña es que el estudio profundo se nota en cada conversación.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cierras el puente abierto en el acto 1: la misma psicología, usada para que la gente crezca. Menciona Life2Play como tu apuesta concreta en esta 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frases: Su juego probablemente no les pague las cuentas; la industria sí. Cada proyecto fallido es portafolio. Y yo entré desde Bucaramanga sin irme del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Repite las cuatro palabras y abre preguntas. Deja el QR visible durante toda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fna&amp;_nc_gid=O09uWPqhR1Sy9FjmVzMTHg&amp;_nc_ss=7b289&amp;oh=00_AQI5InnXS3HnNW3GBluSusnBW7IMo-oJA4k8GJ0F_nwLsQ&amp;oe=6AB0ADFE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94173"/>
            <a:ext cx="68021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CHARLA · SENA ·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46213"/>
            <a:ext cx="6802120" cy="1890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entrar a la industria de los videojuegos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314527"/>
            <a:ext cx="680212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Tendencias actuales y consejos reales para ser contratado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814888"/>
            <a:ext cx="68021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Gonzalo</a:t>
            </a:r>
            <a:r>
              <a:rPr lang="en-US" sz="14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Game designer · Fundador de Life2Play · Docente UNAD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B5C088B-A291-53DF-0CF6-05788D3B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593" y="1574451"/>
            <a:ext cx="3759539" cy="4044950"/>
          </a:xfrm>
          <a:prstGeom prst="round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actos en 30 minutos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41"/>
            <a:ext cx="3386634" cy="2138363"/>
          </a:xfrm>
          <a:prstGeom prst="roundRect">
            <a:avLst>
              <a:gd name="adj" fmla="val 7127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7600" y="1976041"/>
            <a:ext cx="286034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1 · 6 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2326481"/>
            <a:ext cx="28603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Dónde está la industria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3042642"/>
            <a:ext cx="28603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de negocio, multijugador, indie y psicología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34" y="1671241"/>
            <a:ext cx="3386733" cy="2138363"/>
          </a:xfrm>
          <a:prstGeom prst="roundRect">
            <a:avLst>
              <a:gd name="adj" fmla="val 7127"/>
            </a:avLst>
          </a:prstGeom>
          <a:solidFill>
            <a:srgbClr val="C8F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7434" y="1976041"/>
            <a:ext cx="28604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2 · 18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7434" y="2326481"/>
            <a:ext cx="2860447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entrar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7434" y="2735362"/>
            <a:ext cx="286044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consejos, cuatro historias reales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566" y="1671241"/>
            <a:ext cx="3386634" cy="2138363"/>
          </a:xfrm>
          <a:prstGeom prst="roundRect">
            <a:avLst>
              <a:gd name="adj" fmla="val 7127"/>
            </a:avLst>
          </a:prstGeom>
          <a:solidFill>
            <a:srgbClr val="FF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7366" y="1976041"/>
            <a:ext cx="286034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3 · 6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97366" y="2326481"/>
            <a:ext cx="2860345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Hacia dónde va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97366" y="2735362"/>
            <a:ext cx="28603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Juegos serios, indies y la verdad incómoda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F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28763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4724499"/>
            <a:ext cx="10883392" cy="896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60"/>
              </a:lnSpc>
              <a:buNone/>
            </a:pPr>
            <a:r>
              <a:rPr lang="en-US" sz="70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Dónde está la industria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574804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se juega hoy, cómo se cobra y qué se necesita para hacerlo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tendencias que definen el mercado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5194300" cy="1320602"/>
          </a:xfrm>
          <a:prstGeom prst="roundRect">
            <a:avLst>
              <a:gd name="adj" fmla="val 961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8200" y="1620441"/>
            <a:ext cx="0" cy="1320602"/>
          </a:xfrm>
          <a:prstGeom prst="line">
            <a:avLst/>
          </a:prstGeom>
          <a:noFill/>
          <a:ln w="508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7600" y="1874441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Freemium y suscripciones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224881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Gratis para entrar, se paga por seguir. Game Pass, PS Plus, pases de batalla, cosméticos.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900" y="1620441"/>
            <a:ext cx="5194300" cy="1320602"/>
          </a:xfrm>
          <a:prstGeom prst="roundRect">
            <a:avLst>
              <a:gd name="adj" fmla="val 961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0300" y="1620441"/>
            <a:ext cx="0" cy="1320602"/>
          </a:xfrm>
          <a:prstGeom prst="line">
            <a:avLst/>
          </a:prstGeom>
          <a:noFill/>
          <a:ln w="508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89700" y="1874441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service y multijugador masivo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89700" y="2224881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Pocos juegos, muchos años. Fortnite, Roblox, League: el juego como plataforma.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3118842"/>
            <a:ext cx="5194300" cy="1320602"/>
          </a:xfrm>
          <a:prstGeom prst="roundRect">
            <a:avLst>
              <a:gd name="adj" fmla="val 961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8200" y="3118842"/>
            <a:ext cx="0" cy="1320602"/>
          </a:xfrm>
          <a:prstGeom prst="line">
            <a:avLst/>
          </a:prstGeom>
          <a:noFill/>
          <a:ln w="50800">
            <a:solidFill>
              <a:srgbClr val="FF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7600" y="3372842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Auge indie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7600" y="3723283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 gratuitas, Steam abierto, equipos de 1 a 10 personas. Más juegos que nunca.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4900" y="3118842"/>
            <a:ext cx="5194300" cy="1320602"/>
          </a:xfrm>
          <a:prstGeom prst="roundRect">
            <a:avLst>
              <a:gd name="adj" fmla="val 961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0300" y="3118842"/>
            <a:ext cx="0" cy="1320602"/>
          </a:xfrm>
          <a:prstGeom prst="line">
            <a:avLst/>
          </a:prstGeom>
          <a:noFill/>
          <a:ln w="50800">
            <a:solidFill>
              <a:srgbClr val="FF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89700" y="3372842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juega toda la vida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9700" y="3723283"/>
            <a:ext cx="47745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generaciones que crecieron jugando no dejan de jugar en la adultez. [cifra Newzoo / ESA]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4455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Fuentes: Newzoo, GDC State of the Game Industry, Circana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misma psicología, dos usos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5181600" cy="2486521"/>
          </a:xfrm>
          <a:prstGeom prst="roundRect">
            <a:avLst>
              <a:gd name="adj" fmla="val 6129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7600" y="1925241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FF5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PATRONES OSCUROS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46200" y="2301081"/>
            <a:ext cx="447370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Cajas de botín y azar pagado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Rachas que castigan por parar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Monedas confusas y descuentos falsos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Miedo a perderse algo (FOMO)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7600" y="3571081"/>
            <a:ext cx="47091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Explotan la motivación para retener.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7600" y="1620441"/>
            <a:ext cx="5181600" cy="2486521"/>
          </a:xfrm>
          <a:prstGeom prst="roundRect">
            <a:avLst>
              <a:gd name="adj" fmla="val 6129"/>
            </a:avLst>
          </a:prstGeom>
          <a:solidFill>
            <a:srgbClr val="C8F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2400" y="1925241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JUEGOS SERIOS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31000" y="2301081"/>
            <a:ext cx="447370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Autonomía, competencia y relación (SDT)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Retos que enseñan, no que atrapan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Progreso real, no solo puntos e insignias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Diversión = aprender patrones (Koster)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2400" y="3571081"/>
            <a:ext cx="47091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Usan la motivación para que la persona crezca.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5233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Rigby &amp; Ryan, Glued to Games (2011) · Koster, A Theory of Fun (2004)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5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60"/>
            <a:ext cx="10883392" cy="896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60"/>
              </a:lnSpc>
              <a:buNone/>
            </a:pPr>
            <a:r>
              <a:rPr lang="en-US" sz="70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entrar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812800" y="4808438"/>
            <a:ext cx="2527300" cy="1236762"/>
          </a:xfrm>
          <a:prstGeom prst="roundRect">
            <a:avLst>
              <a:gd name="adj" fmla="val 10269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5011638"/>
            <a:ext cx="21845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5293519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Elige un nicho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92500" y="4808438"/>
            <a:ext cx="2527300" cy="1236762"/>
          </a:xfrm>
          <a:prstGeom prst="roundRect">
            <a:avLst>
              <a:gd name="adj" fmla="val 10269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95700" y="5011638"/>
            <a:ext cx="21845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95700" y="5293519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 mucho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4808438"/>
            <a:ext cx="2527300" cy="1236762"/>
          </a:xfrm>
          <a:prstGeom prst="roundRect">
            <a:avLst>
              <a:gd name="adj" fmla="val 10269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75400" y="5011638"/>
            <a:ext cx="21845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5400" y="5293519"/>
            <a:ext cx="218452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Documenta el proceso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51900" y="4808438"/>
            <a:ext cx="2527300" cy="1236762"/>
          </a:xfrm>
          <a:prstGeom prst="roundRect">
            <a:avLst>
              <a:gd name="adj" fmla="val 10269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5100" y="5011638"/>
            <a:ext cx="21845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5100" y="5293519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Estudia el campo</a:t>
            </a:r>
            <a:endParaRPr lang="en-US" sz="18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45C30C-7C6B-7689-8B8B-029F5202DB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6" b="2152"/>
          <a:stretch>
            <a:fillRect/>
          </a:stretch>
        </p:blipFill>
        <p:spPr>
          <a:xfrm>
            <a:off x="7842250" y="465958"/>
            <a:ext cx="3536950" cy="4044950"/>
          </a:xfrm>
          <a:prstGeom prst="round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01 · ELIGE UN NICHO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roles que la industria contrata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3420467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2016621"/>
            <a:ext cx="31044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323902"/>
            <a:ext cx="310448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· Niveles · Narrativa · </a:t>
            </a:r>
            <a:r>
              <a:rPr lang="en-US" sz="125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designer</a:t>
            </a: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(diseña y prototipa en código)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5667" y="1813421"/>
            <a:ext cx="3420566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8867" y="2016621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8867" y="2323902"/>
            <a:ext cx="310459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Gameplay · Motor · Red y multijugador · </a:t>
            </a:r>
            <a:r>
              <a:rPr lang="en-US" sz="125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(tools)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8634" y="1813421"/>
            <a:ext cx="3420566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61834" y="2016621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61834" y="2323902"/>
            <a:ext cx="310459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· 3D y entornos · Animación · VFX · </a:t>
            </a:r>
            <a:r>
              <a:rPr lang="en-US" sz="125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 artist</a:t>
            </a: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(puente arte–código)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800" y="3124002"/>
            <a:ext cx="3420467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3327202"/>
            <a:ext cx="31044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5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Audio y UX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634482"/>
            <a:ext cx="31044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Sonido y música · UX/UI · Accesibilidad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5667" y="3124002"/>
            <a:ext cx="3420566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8867" y="3327202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5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Calidad y producción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88867" y="3634482"/>
            <a:ext cx="310459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</a:t>
            </a: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(la puerta de entrada más común) · Producer · Scrum master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8634" y="3124002"/>
            <a:ext cx="3420566" cy="1158180"/>
          </a:xfrm>
          <a:prstGeom prst="roundRect">
            <a:avLst>
              <a:gd name="adj" fmla="val 10965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1834" y="3327202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5F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Negocio y datos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61834" y="3634482"/>
            <a:ext cx="310459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Comunidad · Marketing · </a:t>
            </a:r>
            <a:r>
              <a:rPr lang="en-US" sz="125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Analista de datos</a:t>
            </a: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Live ops · Monetización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94966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B840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01 · ELIGE UN NICHO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47007"/>
            <a:ext cx="6540500" cy="116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Uno o dos roles. Profundo, no ancho.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590032"/>
            <a:ext cx="6540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"Hago de todo un poco" no es una especialidad. Un estudio contrata a quien resuelve un problema concreto mejor que los demás.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362152"/>
            <a:ext cx="65405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C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Pista:</a:t>
            </a:r>
            <a:r>
              <a:rPr lang="en-US" sz="1400" dirty="0">
                <a:solidFill>
                  <a:srgbClr val="1A1C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los roles con menos competencia son los menos glamurosos: herramientas, tech art, QA, datos.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CA2266-05F5-83DF-79C8-E3DE34CB1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22" y="1476560"/>
            <a:ext cx="3986478" cy="3524399"/>
          </a:xfrm>
          <a:prstGeom prst="round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02 · CREA MUCHO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proyecto en el portafolio vale más que un título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6426200" cy="1145480"/>
          </a:xfrm>
          <a:prstGeom prst="roundRect">
            <a:avLst>
              <a:gd name="adj" fmla="val 1108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813421"/>
            <a:ext cx="0" cy="1145480"/>
          </a:xfrm>
          <a:prstGeom prst="line">
            <a:avLst/>
          </a:prstGeom>
          <a:noFill/>
          <a:ln w="508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6800" y="2016621"/>
            <a:ext cx="61480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Game jams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311202"/>
            <a:ext cx="614807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 horas, un tema, un equipo. Global Game Jam, Ludum Dare, itch.io. El mejor entrenamiento para terminar cosas.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2800" y="3111302"/>
            <a:ext cx="6426200" cy="1145480"/>
          </a:xfrm>
          <a:prstGeom prst="roundRect">
            <a:avLst>
              <a:gd name="adj" fmla="val 1108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8200" y="3111302"/>
            <a:ext cx="0" cy="1145480"/>
          </a:xfrm>
          <a:prstGeom prst="line">
            <a:avLst/>
          </a:prstGeom>
          <a:noFill/>
          <a:ln w="508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6800" y="3314502"/>
            <a:ext cx="61480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Proyectos útiles para alguien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3609082"/>
            <a:ext cx="614807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Life2Play: juegos serios con capital semilla del Estado. Una mascota robótica y virtual me abrió la maestría en la UIS.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800" y="4409182"/>
            <a:ext cx="6426200" cy="1145480"/>
          </a:xfrm>
          <a:prstGeom prst="roundRect">
            <a:avLst>
              <a:gd name="adj" fmla="val 11087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8200" y="4409182"/>
            <a:ext cx="0" cy="1145480"/>
          </a:xfrm>
          <a:prstGeom prst="line">
            <a:avLst/>
          </a:prstGeom>
          <a:noFill/>
          <a:ln w="50800">
            <a:solidFill>
              <a:srgbClr val="FF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6800" y="4612382"/>
            <a:ext cx="61480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"Original" no significa solo juegos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4906963"/>
            <a:ext cx="614807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Discord, Steam, assets y plugins para Unity o Unreal: herramientas para quienes hacen o juegan videojuegos.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  <p:pic>
        <p:nvPicPr>
          <p:cNvPr id="21" name="Imagen 20" descr="Master's projects - code BeH">
            <a:extLst>
              <a:ext uri="{FF2B5EF4-FFF2-40B4-BE49-F238E27FC236}">
                <a16:creationId xmlns:a16="http://schemas.microsoft.com/office/drawing/2014/main" id="{D58A4AC6-C244-A632-B533-BB42A4CF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1813422"/>
            <a:ext cx="2795320" cy="3741242"/>
          </a:xfrm>
          <a:prstGeom prst="round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C1C2D58-61E2-73B6-BB22-356ECA99F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562" y="2964023"/>
            <a:ext cx="2113630" cy="3565898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B840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03 · DOCUMENTA EL PROCESO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resultado llama la atención. El proceso convence.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3429000" cy="2591991"/>
          </a:xfrm>
          <a:prstGeom prst="roundRect">
            <a:avLst>
              <a:gd name="adj" fmla="val 5880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2200" y="2092821"/>
            <a:ext cx="29563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HICISTE CÓDIGO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0800" y="2468662"/>
            <a:ext cx="2720848" cy="16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Repositorio público (GitHub, GitLab)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bien comentado, README claro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Arquitectura y patrones explicados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45000" y="1813421"/>
            <a:ext cx="3429000" cy="2591991"/>
          </a:xfrm>
          <a:prstGeom prst="roundRect">
            <a:avLst>
              <a:gd name="adj" fmla="val 5880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24400" y="2092821"/>
            <a:ext cx="29563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FF5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SIEMPRE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53000" y="2468662"/>
            <a:ext cx="2720848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marco del proyecto: para quién, por qué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decisiones y sus alternativas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falló y qué aprendiste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04264" y="2789436"/>
            <a:ext cx="304787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📷 Captura de un README o página de proyecto tuya, con diagramas y decisiones visibles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A1CFC26-125C-9DB7-8E7F-635E5CA66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21" t="183" r="4702" b="-183"/>
          <a:stretch>
            <a:fillRect/>
          </a:stretch>
        </p:blipFill>
        <p:spPr>
          <a:xfrm>
            <a:off x="8077201" y="1813421"/>
            <a:ext cx="3282950" cy="2572941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5674"/>
            <a:ext cx="60172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03 · EL PORTAFOLIO ES EL ENVASE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877715"/>
            <a:ext cx="6017260" cy="157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Limpio, enfocado y con tres proyectos, no treinta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41400" y="3635276"/>
            <a:ext cx="578180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página, un rol, tu mejor trabajo primero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proyecto: qué hiciste tú, con qué, por qué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que no puedas defender en una entrevista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695726"/>
            <a:ext cx="60172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Así entré a [estudios].</a:t>
            </a: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mismo portafolio, ajustado al rol de cada vacante.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5347" y="3096320"/>
            <a:ext cx="398970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9A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📷 Captura de la portada de tu portafolio actual (o un antes/después si conservas la versión vieja)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A2C2EF3-F63A-4E60-FFB9-CF4F280C01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8" r="24851"/>
          <a:stretch>
            <a:fillRect/>
          </a:stretch>
        </p:blipFill>
        <p:spPr>
          <a:xfrm>
            <a:off x="7054341" y="1304925"/>
            <a:ext cx="4315334" cy="3781980"/>
          </a:xfrm>
          <a:prstGeom prst="round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B840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04 · ESTUDIA EL CAMPO: LEE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libros que sí valen la pena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8021"/>
            <a:ext cx="3302000" cy="2863850"/>
          </a:xfrm>
          <a:prstGeom prst="roundRect">
            <a:avLst>
              <a:gd name="adj" fmla="val 4435"/>
            </a:avLst>
          </a:prstGeom>
          <a:solidFill>
            <a:srgbClr val="C8F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1400" y="2016621"/>
            <a:ext cx="293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empezar (ligeros)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346821"/>
            <a:ext cx="293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Koster</a:t>
            </a:r>
            <a:r>
              <a:rPr lang="en-US" sz="125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 Theory of Fun for Game Design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Corto, ilustrado, una idea que sostiene todo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41400" y="3337421"/>
            <a:ext cx="2930144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Rogers</a:t>
            </a:r>
            <a:r>
              <a:rPr lang="en-US" sz="125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Level Up! The Guide to Great Video Game Design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Informal y básico, pero fácil de entrar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2600" y="1788021"/>
            <a:ext cx="7086600" cy="2863850"/>
          </a:xfrm>
          <a:prstGeom prst="roundRect">
            <a:avLst>
              <a:gd name="adj" fmla="val 4435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1200" y="2016621"/>
            <a:ext cx="68282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sólida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1200" y="233412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Fullerton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Game Design Workshop: A Playcentric Approach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1200" y="264527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Schell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Art of Game Design: A Book of Lenses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1200" y="295642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Gibson Bond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Intro to Game Design, Prototyping &amp; Development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1200" y="326757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Salen &amp; Zimmerman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Rules of Play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1200" y="357872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Adams &amp; Dormans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Game Mechanics: Advanced Game Design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1200" y="388987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Swink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Game Feel  ·  </a:t>
            </a: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Rigby &amp; Ryan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Glued to Games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1200" y="4201021"/>
            <a:ext cx="68282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Boss Fight Books</a:t>
            </a:r>
            <a:r>
              <a:rPr lang="en-US" sz="1250" dirty="0">
                <a:solidFill>
                  <a:srgbClr val="E6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el making of de juegos clásicos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04 · ESTUDIA EL CAMPO: MIDE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Dónde están las cifras y las noticias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3420467" cy="1767780"/>
          </a:xfrm>
          <a:prstGeom prst="roundRect">
            <a:avLst>
              <a:gd name="adj" fmla="val 7184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1400" y="2042021"/>
            <a:ext cx="30521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Mercado global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362002"/>
            <a:ext cx="305216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Newzoo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Global Games Market Report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Circana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ventas en EE. UU.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 Tower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móvil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667" y="1813421"/>
            <a:ext cx="3420566" cy="1767780"/>
          </a:xfrm>
          <a:prstGeom prst="roundRect">
            <a:avLst>
              <a:gd name="adj" fmla="val 7184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4267" y="2042021"/>
            <a:ext cx="305226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se trabaja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4267" y="2362002"/>
            <a:ext cx="305226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GDC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State of the Game Industry (encuesta anual)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GDC Vault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charlas de desarrolladores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SteamDB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datos reales de PC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34" y="1813421"/>
            <a:ext cx="3420566" cy="1767780"/>
          </a:xfrm>
          <a:prstGeom prst="roundRect">
            <a:avLst>
              <a:gd name="adj" fmla="val 7184"/>
            </a:avLst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87234" y="2042021"/>
            <a:ext cx="305226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8F5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Noticias del gremio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7234" y="2362002"/>
            <a:ext cx="305226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GamesIndustry.biz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Game Developer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(antes Gamasutra)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Hitmarker</a:t>
            </a:r>
            <a:r>
              <a:rPr lang="en-US" sz="13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vacantes del sector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83520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Leer esto una vez al mes te pone por encima de la mayoría de candidatos en una entrevista.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283200" y="1276846"/>
            <a:ext cx="62788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B840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CONSEJO 04 · ESTUDIA EL CAMPO: JUEGA Y DISECCIONA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83200" y="1703487"/>
            <a:ext cx="6278880" cy="14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Llegué a la última ronda de Giant Squid por haber diseccionado sus juegos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511800" y="3321348"/>
            <a:ext cx="6043422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Buscaban </a:t>
            </a:r>
            <a:r>
              <a:rPr lang="en-US" sz="1450" b="1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designers</a:t>
            </a:r>
            <a:r>
              <a:rPr lang="en-US" sz="14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para Sword of the Sea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Había analizado Abzû y The Pathless a fondo: ¿cómo?, ¿por qué?, ¿qué partes?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4E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Pude discutirlos en profundidad en cada etapa, hasta con Matt Nava, el fundador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83200" y="4880273"/>
            <a:ext cx="62788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C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Escribe análisis de juegos.</a:t>
            </a:r>
            <a:r>
              <a:rPr lang="en-US" sz="1400" dirty="0">
                <a:solidFill>
                  <a:srgbClr val="1A1C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Son portafolio, y son la mejor preparación para una entrevista.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  <p:pic>
        <p:nvPicPr>
          <p:cNvPr id="9" name="Imagen 8" descr="ABZU - Videojuego (PS4, PC, Xbox One y Switch) - Vandal">
            <a:extLst>
              <a:ext uri="{FF2B5EF4-FFF2-40B4-BE49-F238E27FC236}">
                <a16:creationId xmlns:a16="http://schemas.microsoft.com/office/drawing/2014/main" id="{6A6FA0A1-C703-F96D-486F-C8C777F2B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7" y="1208633"/>
            <a:ext cx="4225429" cy="4225429"/>
          </a:xfrm>
          <a:prstGeom prst="round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F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28763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ACTO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4724499"/>
            <a:ext cx="10883392" cy="896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60"/>
              </a:lnSpc>
              <a:buNone/>
            </a:pPr>
            <a:r>
              <a:rPr lang="en-US" sz="7000" b="1" dirty="0">
                <a:solidFill>
                  <a:srgbClr val="121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Hacia dónde va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574804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juegos salen de la pantalla, y una verdad incómoda sobre los indies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90166"/>
            <a:ext cx="64096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C8F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JUEGOS SERIOS Y GAMIFICACIÓN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916807"/>
            <a:ext cx="640969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generación que no dejó de jugar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41400" y="3108027"/>
            <a:ext cx="6174232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Quienes crecieron con videojuegos siguen jugando de adultos [cifra]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Educación, salud, empresa y gobierno ya piden juegos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la diversión es aprender, un juego serio no es "brócoli con chocolate"</a:t>
            </a:r>
            <a:endParaRPr lang="en-US" sz="1450" dirty="0"/>
          </a:p>
          <a:p>
            <a:pPr marL="342900" indent="-342900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Gamificar bien no es puntos e insignias: es diseñar motivación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4666952"/>
            <a:ext cx="640969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la rama donde trabajo,</a:t>
            </a:r>
            <a:r>
              <a:rPr lang="en-US" sz="14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donde hay más demanda que diseñadores formados.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1986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· Koster (2004) · Bruckman (1999) · Gartner (2012): 80 % de la gamificación fallaría por mal diseño</a:t>
            </a:r>
            <a:endParaRPr lang="en-US" sz="1200" dirty="0"/>
          </a:p>
        </p:txBody>
      </p:sp>
      <p:pic>
        <p:nvPicPr>
          <p:cNvPr id="9" name="Imagen 8" descr="Puede ser una imagen de mando, televisor, videojuegos y texto que dice &quot;1980 12 Edad promedio por año คป 1996 20 NO0 aweK P PUySt tion. 2026 37 JUGAMER GEARSWAR E-DAY WAR GEARSOV 도을 ®&quot;">
            <a:extLst>
              <a:ext uri="{FF2B5EF4-FFF2-40B4-BE49-F238E27FC236}">
                <a16:creationId xmlns:a16="http://schemas.microsoft.com/office/drawing/2014/main" id="{24E9188B-4FC4-3573-2B7C-F59E31251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740" y="1020026"/>
            <a:ext cx="3738726" cy="4673408"/>
          </a:xfrm>
          <a:prstGeom prst="snip2Diag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B840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AUGE INDIE, SIN ILUSIONES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44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A1C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verdad incómoda (y la buena noticia)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5181600" cy="2363391"/>
          </a:xfrm>
          <a:prstGeom prst="roundRect">
            <a:avLst>
              <a:gd name="adj" fmla="val 6448"/>
            </a:avLst>
          </a:prstGeom>
          <a:solidFill>
            <a:srgbClr val="121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2200" y="209282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FF5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VERDAD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0800" y="2468662"/>
            <a:ext cx="4526026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Sueño ≠ carrera → sepáralos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mayoría de los indies no prosperan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Pero: proyecto fallido = habilidades reales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copias vendidas → portafolio que te contrata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Carrera: lo empleable · Sueño: en paralelo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813421"/>
            <a:ext cx="5181600" cy="2363391"/>
          </a:xfrm>
          <a:prstGeom prst="roundRect">
            <a:avLst>
              <a:gd name="adj" fmla="val 6448"/>
            </a:avLst>
          </a:prstGeom>
          <a:solidFill>
            <a:srgbClr val="C8F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7000" y="209282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BUENA NOTICIA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05600" y="2468662"/>
            <a:ext cx="4526026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Colombia: estudios remotos y outsourcing (Globant, etc.)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Talento local, sin emigrar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"Aquí no hay industria" → falso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214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 entré desde Bucaramanga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5500"/>
            <a:ext cx="706374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Elige. Crea. Documenta. Estudia.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644900"/>
            <a:ext cx="706374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9A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entiende por qué se hacen las cosas, no solo cómo.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170660"/>
            <a:ext cx="70637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Gonzalo</a:t>
            </a:r>
            <a:r>
              <a:rPr lang="en-US" sz="1500" dirty="0">
                <a:solidFill>
                  <a:srgbClr val="F5F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Life2Play SAS · UNAD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513560"/>
            <a:ext cx="70637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C9CD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https://gonzaloandresbarre.wixsite.com/designportfolio · gonzaloabarrerar@outlook.com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A2DAA3-E414-31FB-536B-6E8F8CEFC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18" y="1607659"/>
            <a:ext cx="3668082" cy="3668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1757</Words>
  <Application>Microsoft Office PowerPoint</Application>
  <PresentationFormat>Panorámica</PresentationFormat>
  <Paragraphs>201</Paragraphs>
  <Slides>18</Slides>
  <Notes>18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IBM Plex Sans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entrar a la industria de los videojuegos — SENA</dc:title>
  <dc:subject>PptxGenJS Presentation</dc:subject>
  <dc:creator>PptxGenJS</dc:creator>
  <cp:lastModifiedBy>Gonzalo Barrera</cp:lastModifiedBy>
  <cp:revision>4</cp:revision>
  <dcterms:created xsi:type="dcterms:W3CDTF">2026-09-16T16:51:40Z</dcterms:created>
  <dcterms:modified xsi:type="dcterms:W3CDTF">2026-09-16T17:26:59Z</dcterms:modified>
</cp:coreProperties>
</file>